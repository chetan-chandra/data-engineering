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message: from now on, only the work a person has approved reaches production. Context for a non-technical audience: our data workflows (Airflow DAGs) are small programs that move and prepare company data every day. How those programs are released decides whether reports and data feeds stay trustworthy. This talk covers a risk we found, how we removed it, and who gains. About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cards left to right. Monday: Developer 1 finishes a change and sends it to the Test area only, because it still needs checking. Tuesday: Developer 2 finishes a different change and releases it to Production. The surprise: because the old release step moved everything waiting, Developer 1's unchecked work went live too. Neither developer intended it and neither could prevent it. Use the delivery-truck analogy: you booked one parcel, but the truck took the whole warehouse.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story as one picture. Two changes enter the Test area. They sit together there. One Deploy action moves the whole contents of Test to Production. The red box is the point: Developer 1's change is live although nobody decided that. Pause here and ask the room whether they would accept this in any other process, such as payments or contracts. This is a presentation simplification of the incident the team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one per row, each with a plain meaning. The first three are the serious ones: unwanted code going live, nobody being able to control what they release, and half-tested workflows breaking live data jobs. The last three are about visibility: no preview of what will move, deleted or renamed workflows lingering in Production, and no clear trail of who released what. If asked for evidence, point to the real incident of a wrong workflow created in Test reaching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how releases behaved: everything together, so Production could contain unchecked work. Right side is the controlled approach: each change is reviewed, then only that change moves through Sandbox, Test and Production. Key sentence for managers: Production now receives only what was approved. Technical note if asked: the pipeline compares the newest merged version with the one just before it and copies only the files that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1 Preview: when someone opens a pull request, a check job prints the list of files that would be released. It deploys nothing. 2 Approve and merge: a reviewer approves, then the change is merged to main. Note for the presenter: the reviewer requirement is a branch policy set in Azure DevOps on main, not something written in the pipeline file, so confirm it is switched on. 3 Only changes move: the shared deploy template compares the latest version with the previous one and copies only added or modified files, removes deleted ones, and handles renames. 4 Step by step: the deploy to Test starts only if Sandbox succeeded, and Production only if Test succeeded. Approval checks on the Test and Production environments are also set in Azure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chain left to right. Propose, Preview and Merge are the review part. Sandbox, Test and Production are the release part. The two orange or dark gates before Test and Production mean a named person can be required to click approve before the release continues; that setting lives on the environments in Azure DevOps. The four cards underneath explain, in plain words, what happens to each kind of file: new or edited files are copied, renamed files are moved, deleted files are removed, and everything else is left alone. That last point is exactly what protects against accidental side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audiences. Developers can release their own work with confidence. Business teams see fewer surprises in reports and data feeds. Support and operations get fewer urgent fixes and a clear record of what changed. Management and audit get controlled, traceable releases with approvals at each stage. These benefits are qualitative. If you have counts of past production incidents or hours spent on fixes, add them here for a stronger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one sentence: release only what is ready. Then make the ask clearly: approval to roll this approach out to all Airflow projects. Offer to answer questions and to share the technical walk-through with the engineering leads. Before presenting, confirm that the Sandbox, Test and Production buckets and key files are set to their real separate values, and that branch policy and environment approvals are 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Helvetica" pitchFamily="34" charset="0"/>
                <a:ea typeface="Helvetica" pitchFamily="34" charset="-122"/>
                <a:cs typeface="Helvetic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elvetica" pitchFamily="34" charset="0"/>
                <a:ea typeface="Helvetica" pitchFamily="34" charset="-122"/>
                <a:cs typeface="Helvetica"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Helvetica" pitchFamily="34" charset="0"/>
                <a:ea typeface="Helvetica" pitchFamily="34" charset="-122"/>
                <a:cs typeface="Helvetic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elvetica" pitchFamily="34" charset="0"/>
                <a:ea typeface="Helvetica" pitchFamily="34" charset="-122"/>
                <a:cs typeface="Helvetica"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466975"/>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76F2A"/>
                </a:solidFill>
                <a:latin typeface="Helvetica" pitchFamily="34" charset="0"/>
                <a:ea typeface="Helvetica" pitchFamily="34" charset="-122"/>
                <a:cs typeface="Helvetica" pitchFamily="34" charset="-120"/>
              </a:rPr>
              <a:t>PROCESS IMPROVEMENT</a:t>
            </a:r>
            <a:endParaRPr lang="en-US" sz="1600" dirty="0"/>
          </a:p>
        </p:txBody>
      </p:sp>
      <p:sp>
        <p:nvSpPr>
          <p:cNvPr id="3" name="Text 1"/>
          <p:cNvSpPr/>
          <p:nvPr>
            <p:ph type="title"/>
          </p:nvPr>
        </p:nvSpPr>
        <p:spPr>
          <a:xfrm>
            <a:off x="812800" y="3005435"/>
            <a:ext cx="10883392" cy="793750"/>
          </a:xfrm>
          <a:prstGeom prst="rect">
            <a:avLst/>
          </a:prstGeom>
          <a:noFill/>
          <a:ln/>
        </p:spPr>
        <p:txBody>
          <a:bodyPr wrap="square" lIns="0" tIns="0" rIns="0" bIns="0" rtlCol="0" anchor="t">
            <a:normAutofit/>
          </a:bodyPr>
          <a:lstStyle/>
          <a:p>
            <a:pPr algn="l" indent="0" marL="0">
              <a:lnSpc>
                <a:spcPts val="6050"/>
              </a:lnSpc>
              <a:buNone/>
            </a:pPr>
            <a:r>
              <a:rPr lang="en-US" sz="5500" b="1" i="0" dirty="0">
                <a:solidFill>
                  <a:srgbClr val="F7F5EF"/>
                </a:solidFill>
                <a:latin typeface="Helvetica" pitchFamily="34" charset="0"/>
                <a:ea typeface="Helvetica" pitchFamily="34" charset="-122"/>
                <a:cs typeface="Helvetica" pitchFamily="34" charset="-120"/>
              </a:rPr>
              <a:t>Only your own work goes live</a:t>
            </a:r>
            <a:endParaRPr lang="en-US" sz="5500" dirty="0"/>
          </a:p>
        </p:txBody>
      </p:sp>
      <p:sp>
        <p:nvSpPr>
          <p:cNvPr id="4" name="Text 2"/>
          <p:cNvSpPr/>
          <p:nvPr/>
        </p:nvSpPr>
        <p:spPr>
          <a:xfrm>
            <a:off x="812800" y="4027785"/>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1E0"/>
                </a:solidFill>
                <a:latin typeface="Helvetica" pitchFamily="34" charset="0"/>
                <a:ea typeface="Helvetica" pitchFamily="34" charset="-122"/>
                <a:cs typeface="Helvetica" pitchFamily="34" charset="-120"/>
              </a:rPr>
              <a:t>A safer, controlled way to release our data workflows (Airflow DAGs)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What went wrong: a simple story</a:t>
            </a:r>
            <a:endParaRPr lang="en-US" sz="3600" dirty="0"/>
          </a:p>
        </p:txBody>
      </p:sp>
      <p:sp>
        <p:nvSpPr>
          <p:cNvPr id="3" name="Shape 1"/>
          <p:cNvSpPr/>
          <p:nvPr/>
        </p:nvSpPr>
        <p:spPr>
          <a:xfrm>
            <a:off x="812800" y="1671241"/>
            <a:ext cx="3386634" cy="1912541"/>
          </a:xfrm>
          <a:prstGeom prst="roundRect">
            <a:avLst>
              <a:gd name="adj" fmla="val 5312"/>
            </a:avLst>
          </a:prstGeom>
          <a:solidFill>
            <a:srgbClr val="FFFFFF"/>
          </a:solidFill>
          <a:ln/>
        </p:spPr>
      </p:sp>
      <p:sp>
        <p:nvSpPr>
          <p:cNvPr id="4" name="Text 2"/>
          <p:cNvSpPr/>
          <p:nvPr/>
        </p:nvSpPr>
        <p:spPr>
          <a:xfrm>
            <a:off x="1066800" y="192524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7A8C"/>
                </a:solidFill>
                <a:latin typeface="Helvetica" pitchFamily="34" charset="0"/>
                <a:ea typeface="Helvetica" pitchFamily="34" charset="-122"/>
                <a:cs typeface="Helvetica" pitchFamily="34" charset="-120"/>
              </a:rPr>
              <a:t>Monday: Developer 1</a:t>
            </a:r>
            <a:endParaRPr lang="en-US" sz="1800" dirty="0"/>
          </a:p>
        </p:txBody>
      </p:sp>
      <p:sp>
        <p:nvSpPr>
          <p:cNvPr id="5" name="Text 3"/>
          <p:cNvSpPr/>
          <p:nvPr/>
        </p:nvSpPr>
        <p:spPr>
          <a:xfrm>
            <a:off x="1066800" y="2301081"/>
            <a:ext cx="2964993"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Finishes a change and releases it to the Test area only. It is still being checked. It should NOT go live yet.</a:t>
            </a:r>
            <a:endParaRPr lang="en-US" sz="1500" dirty="0"/>
          </a:p>
        </p:txBody>
      </p:sp>
      <p:sp>
        <p:nvSpPr>
          <p:cNvPr id="6" name="Shape 4"/>
          <p:cNvSpPr/>
          <p:nvPr/>
        </p:nvSpPr>
        <p:spPr>
          <a:xfrm>
            <a:off x="4402634" y="1671241"/>
            <a:ext cx="3386733" cy="1912541"/>
          </a:xfrm>
          <a:prstGeom prst="roundRect">
            <a:avLst>
              <a:gd name="adj" fmla="val 5312"/>
            </a:avLst>
          </a:prstGeom>
          <a:solidFill>
            <a:srgbClr val="FFFFFF"/>
          </a:solidFill>
          <a:ln/>
        </p:spPr>
      </p:sp>
      <p:sp>
        <p:nvSpPr>
          <p:cNvPr id="7" name="Text 5"/>
          <p:cNvSpPr/>
          <p:nvPr/>
        </p:nvSpPr>
        <p:spPr>
          <a:xfrm>
            <a:off x="4656634" y="1925241"/>
            <a:ext cx="2965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7A8C"/>
                </a:solidFill>
                <a:latin typeface="Helvetica" pitchFamily="34" charset="0"/>
                <a:ea typeface="Helvetica" pitchFamily="34" charset="-122"/>
                <a:cs typeface="Helvetica" pitchFamily="34" charset="-120"/>
              </a:rPr>
              <a:t>Tuesday: Developer 2</a:t>
            </a:r>
            <a:endParaRPr lang="en-US" sz="1800" dirty="0"/>
          </a:p>
        </p:txBody>
      </p:sp>
      <p:sp>
        <p:nvSpPr>
          <p:cNvPr id="8" name="Text 6"/>
          <p:cNvSpPr/>
          <p:nvPr/>
        </p:nvSpPr>
        <p:spPr>
          <a:xfrm>
            <a:off x="4656634" y="2301081"/>
            <a:ext cx="296509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Finishes a different change, tests it and releases it all the way to Production (live).</a:t>
            </a:r>
            <a:endParaRPr lang="en-US" sz="1500" dirty="0"/>
          </a:p>
        </p:txBody>
      </p:sp>
      <p:sp>
        <p:nvSpPr>
          <p:cNvPr id="9" name="Shape 7"/>
          <p:cNvSpPr/>
          <p:nvPr/>
        </p:nvSpPr>
        <p:spPr>
          <a:xfrm>
            <a:off x="7992566" y="1671241"/>
            <a:ext cx="3386634" cy="1912541"/>
          </a:xfrm>
          <a:prstGeom prst="roundRect">
            <a:avLst>
              <a:gd name="adj" fmla="val 5312"/>
            </a:avLst>
          </a:prstGeom>
          <a:solidFill>
            <a:srgbClr val="FDE8DC"/>
          </a:solidFill>
          <a:ln/>
        </p:spPr>
      </p:sp>
      <p:sp>
        <p:nvSpPr>
          <p:cNvPr id="10" name="Text 8"/>
          <p:cNvSpPr/>
          <p:nvPr/>
        </p:nvSpPr>
        <p:spPr>
          <a:xfrm>
            <a:off x="8246566" y="1925241"/>
            <a:ext cx="29649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400F"/>
                </a:solidFill>
                <a:latin typeface="Helvetica" pitchFamily="34" charset="0"/>
                <a:ea typeface="Helvetica" pitchFamily="34" charset="-122"/>
                <a:cs typeface="Helvetica" pitchFamily="34" charset="-120"/>
              </a:rPr>
              <a:t>The surprise</a:t>
            </a:r>
            <a:endParaRPr lang="en-US" sz="1800" dirty="0"/>
          </a:p>
        </p:txBody>
      </p:sp>
      <p:sp>
        <p:nvSpPr>
          <p:cNvPr id="11" name="Text 9"/>
          <p:cNvSpPr/>
          <p:nvPr/>
        </p:nvSpPr>
        <p:spPr>
          <a:xfrm>
            <a:off x="8246566" y="2301081"/>
            <a:ext cx="2964993"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Developer 1's unchecked work went live too. Neither developer chose this, and neither could stop it.</a:t>
            </a:r>
            <a:endParaRPr lang="en-US" sz="1500" dirty="0"/>
          </a:p>
        </p:txBody>
      </p:sp>
      <p:sp>
        <p:nvSpPr>
          <p:cNvPr id="12" name="Text 10"/>
          <p:cNvSpPr/>
          <p:nvPr/>
        </p:nvSpPr>
        <p:spPr>
          <a:xfrm>
            <a:off x="812800" y="3939381"/>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13D"/>
                </a:solidFill>
                <a:latin typeface="Helvetica" pitchFamily="34" charset="0"/>
                <a:ea typeface="Helvetica" pitchFamily="34" charset="-122"/>
                <a:cs typeface="Helvetica" pitchFamily="34" charset="-120"/>
              </a:rPr>
              <a:t>Think of a delivery truck that takes </a:t>
            </a:r>
            <a:r>
              <a:rPr lang="en-US" sz="1800" b="1" dirty="0">
                <a:solidFill>
                  <a:srgbClr val="14213D"/>
                </a:solidFill>
                <a:latin typeface="Helvetica" pitchFamily="34" charset="0"/>
                <a:ea typeface="Helvetica" pitchFamily="34" charset="-122"/>
                <a:cs typeface="Helvetica" pitchFamily="34" charset="-120"/>
              </a:rPr>
              <a:t>every parcel in the warehouse</a:t>
            </a:r>
            <a:r>
              <a:rPr lang="en-US" sz="1800" dirty="0">
                <a:solidFill>
                  <a:srgbClr val="14213D"/>
                </a:solidFill>
                <a:latin typeface="Helvetica" pitchFamily="34" charset="0"/>
                <a:ea typeface="Helvetica" pitchFamily="34" charset="-122"/>
                <a:cs typeface="Helvetica" pitchFamily="34" charset="-120"/>
              </a:rPr>
              <a:t>, not just the one you booked.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The old flow in one picture</a:t>
            </a:r>
            <a:endParaRPr lang="en-US" sz="3600" dirty="0"/>
          </a:p>
        </p:txBody>
      </p:sp>
      <p:pic>
        <p:nvPicPr>
          <p:cNvPr id="3" name="Image 0" descr="Diagram: changes from Developer 1 and Developer 2 both flow into Test, and one deployment sends both to Production">    </p:cNvPr>
          <p:cNvPicPr>
            <a:picLocks noChangeAspect="1"/>
          </p:cNvPicPr>
          <p:nvPr/>
        </p:nvPicPr>
        <p:blipFill>
          <a:blip r:embed="rId1"/>
          <a:srcRect l="0" r="0" t="-17" b="-17"/>
          <a:stretch/>
        </p:blipFill>
        <p:spPr>
          <a:xfrm>
            <a:off x="812800" y="1620441"/>
            <a:ext cx="10566400" cy="355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Helvetica" pitchFamily="34" charset="0"/>
                <a:ea typeface="Helvetica" pitchFamily="34" charset="-122"/>
                <a:cs typeface="Helvetica" pitchFamily="34" charset="-120"/>
              </a:rPr>
              <a:t>Problems with the old approach</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83941"/>
          <a:ext cx="10553700" cy="3460552"/>
        </p:xfrm>
        <a:graphic>
          <a:graphicData uri="http://schemas.openxmlformats.org/drawingml/2006/table">
            <a:tbl>
              <a:tblPr/>
              <a:tblGrid>
                <a:gridCol w="5276850"/>
                <a:gridCol w="5276850"/>
              </a:tblGrid>
              <a:tr h="418902">
                <a:tc>
                  <a:txBody>
                    <a:bodyPr/>
                    <a:lstStyle/>
                    <a:p>
                      <a:pPr indent="0" marL="0">
                        <a:lnSpc>
                          <a:spcPts val="2240"/>
                        </a:lnSpc>
                        <a:buNone/>
                      </a:pPr>
                      <a:r>
                        <a:rPr lang="en-US" sz="1600" b="1" dirty="0">
                          <a:solidFill>
                            <a:srgbClr val="F7F5EF"/>
                          </a:solidFill>
                          <a:latin typeface="Helvetica" pitchFamily="34" charset="0"/>
                          <a:ea typeface="Helvetica" pitchFamily="34" charset="-122"/>
                          <a:cs typeface="Helvetica" pitchFamily="34" charset="-120"/>
                        </a:rPr>
                        <a:t>Problem</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c>
                  <a:txBody>
                    <a:bodyPr/>
                    <a:lstStyle/>
                    <a:p>
                      <a:pPr indent="0" marL="0">
                        <a:lnSpc>
                          <a:spcPts val="2240"/>
                        </a:lnSpc>
                        <a:buNone/>
                      </a:pPr>
                      <a:r>
                        <a:rPr lang="en-US" sz="1600" b="1" dirty="0">
                          <a:solidFill>
                            <a:srgbClr val="F7F5EF"/>
                          </a:solidFill>
                          <a:latin typeface="Helvetica" pitchFamily="34" charset="0"/>
                          <a:ea typeface="Helvetica" pitchFamily="34" charset="-122"/>
                          <a:cs typeface="Helvetica" pitchFamily="34" charset="-120"/>
                        </a:rPr>
                        <a:t>In plain words</a:t>
                      </a:r>
                      <a:endParaRPr lang="en-US" sz="1600" dirty="0">
                        <a:latin typeface="Helvetica" charset="0"/>
                        <a:ea typeface="Helvetica" charset="0"/>
                        <a:cs typeface="Helvetica" charset="0"/>
                      </a:endParaRPr>
                    </a:p>
                  </a:txBody>
                  <a:tcPr marL="71120" marR="71120" marT="71120" marB="71120" anchor="t">
                    <a:lnL w="12700" cap="flat" cmpd="sng" algn="ctr">
                      <a:solidFill>
                        <a:srgbClr val="555E71"/>
                      </a:solidFill>
                      <a:prstDash val="solid"/>
                      <a:round/>
                      <a:headEnd type="none" w="med" len="med"/>
                      <a:tailEnd type="none" w="med" len="med"/>
                    </a:lnL>
                    <a:lnR w="12700" cap="flat" cmpd="sng" algn="ctr">
                      <a:solidFill>
                        <a:srgbClr val="555E71"/>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555E71"/>
                      </a:solidFill>
                      <a:prstDash val="solid"/>
                      <a:round/>
                      <a:headEnd type="none" w="med" len="med"/>
                      <a:tailEnd type="none" w="med" len="med"/>
                    </a:lnB>
                    <a:solidFill>
                      <a:srgbClr val="26324C"/>
                    </a:solidFill>
                  </a:tcPr>
                </a:tc>
              </a:tr>
              <a:tr h="683022">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Unwanted code goes live</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One person's release carries everyone else's pending work</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555E71"/>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683022">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No one is in control</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A developer cannot choose to release only their own change</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18902">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Wrong version in Production</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A half-tested workflow can break live data jobs</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18902">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No preview</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Nobody sees what will be released before it happens</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18902">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Deleted or renamed items linger</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Old workflows keep running in Production by mistake</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r h="418902">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Hard to trace</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c>
                  <a:txBody>
                    <a:bodyPr/>
                    <a:lstStyle/>
                    <a:p>
                      <a:pPr indent="0" marL="0">
                        <a:lnSpc>
                          <a:spcPts val="2240"/>
                        </a:lnSpc>
                        <a:buNone/>
                      </a:pPr>
                      <a:r>
                        <a:rPr lang="en-US" sz="1600" dirty="0">
                          <a:solidFill>
                            <a:srgbClr val="F7F5EF"/>
                          </a:solidFill>
                          <a:latin typeface="Helvetica" pitchFamily="34" charset="0"/>
                          <a:ea typeface="Helvetica" pitchFamily="34" charset="-122"/>
                          <a:cs typeface="Helvetica" pitchFamily="34" charset="-120"/>
                        </a:rPr>
                        <a:t>Unclear who released what, and when</a:t>
                      </a:r>
                      <a:endParaRPr lang="en-US" sz="1600" dirty="0">
                        <a:latin typeface="Helvetica" charset="0"/>
                        <a:ea typeface="Helvetica" charset="0"/>
                        <a:cs typeface="Helvetica" charset="0"/>
                      </a:endParaRPr>
                    </a:p>
                  </a:txBody>
                  <a:tcPr marL="71120" marR="71120" marT="71120" marB="71120" anchor="t">
                    <a:lnL w="12700" cap="flat" cmpd="sng" algn="ctr">
                      <a:solidFill>
                        <a:srgbClr val="475165"/>
                      </a:solidFill>
                      <a:prstDash val="solid"/>
                      <a:round/>
                      <a:headEnd type="none" w="med" len="med"/>
                      <a:tailEnd type="none" w="med" len="med"/>
                    </a:lnL>
                    <a:lnR w="12700" cap="flat" cmpd="sng" algn="ctr">
                      <a:solidFill>
                        <a:srgbClr val="475165"/>
                      </a:solidFill>
                      <a:prstDash val="solid"/>
                      <a:round/>
                      <a:headEnd type="none" w="med" len="med"/>
                      <a:tailEnd type="none" w="med" len="med"/>
                    </a:lnR>
                    <a:lnT w="12700" cap="flat" cmpd="sng" algn="ctr">
                      <a:solidFill>
                        <a:srgbClr val="475165"/>
                      </a:solidFill>
                      <a:prstDash val="solid"/>
                      <a:round/>
                      <a:headEnd type="none" w="med" len="med"/>
                      <a:tailEnd type="none" w="med" len="med"/>
                    </a:lnT>
                    <a:lnB w="12700" cap="flat" cmpd="sng" algn="ctr">
                      <a:solidFill>
                        <a:srgbClr val="475165"/>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Before and after</a:t>
            </a:r>
            <a:endParaRPr lang="en-US" sz="3600" dirty="0"/>
          </a:p>
        </p:txBody>
      </p:sp>
      <p:sp>
        <p:nvSpPr>
          <p:cNvPr id="3" name="Shape 1"/>
          <p:cNvSpPr/>
          <p:nvPr/>
        </p:nvSpPr>
        <p:spPr>
          <a:xfrm>
            <a:off x="812800" y="1671241"/>
            <a:ext cx="5130800" cy="3886200"/>
          </a:xfrm>
          <a:prstGeom prst="roundRect">
            <a:avLst>
              <a:gd name="adj" fmla="val 2614"/>
            </a:avLst>
          </a:prstGeom>
          <a:solidFill>
            <a:srgbClr val="FDE8DC"/>
          </a:solidFill>
          <a:ln/>
        </p:spPr>
      </p:sp>
      <p:sp>
        <p:nvSpPr>
          <p:cNvPr id="4" name="Text 2"/>
          <p:cNvSpPr/>
          <p:nvPr/>
        </p:nvSpPr>
        <p:spPr>
          <a:xfrm>
            <a:off x="1066800" y="1925241"/>
            <a:ext cx="47614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4400F"/>
                </a:solidFill>
                <a:latin typeface="Helvetica" pitchFamily="34" charset="0"/>
                <a:ea typeface="Helvetica" pitchFamily="34" charset="-122"/>
                <a:cs typeface="Helvetica" pitchFamily="34" charset="-120"/>
              </a:rPr>
              <a:t>Before: everything together</a:t>
            </a:r>
            <a:endParaRPr lang="en-US" sz="2000" dirty="0"/>
          </a:p>
        </p:txBody>
      </p:sp>
      <p:sp>
        <p:nvSpPr>
          <p:cNvPr id="5" name="Text 3"/>
          <p:cNvSpPr/>
          <p:nvPr/>
        </p:nvSpPr>
        <p:spPr>
          <a:xfrm>
            <a:off x="1066800" y="2357041"/>
            <a:ext cx="4622800" cy="520700"/>
          </a:xfrm>
          <a:prstGeom prst="roundRect">
            <a:avLst>
              <a:gd name="adj" fmla="val 14634"/>
            </a:avLst>
          </a:prstGeom>
          <a:solidFill>
            <a:srgbClr val="FFFFFF"/>
          </a:solidFill>
          <a:ln/>
        </p:spPr>
        <p:txBody>
          <a:bodyPr wrap="square" lIns="104682" tIns="104682" rIns="0" bIns="79282" rtlCol="0" anchor="t">
            <a:normAutofit/>
          </a:bodyPr>
          <a:lstStyle/>
          <a:p>
            <a:pPr algn="l" indent="0" marL="0">
              <a:lnSpc>
                <a:spcPts val="2100"/>
              </a:lnSpc>
              <a:buNone/>
            </a:pPr>
            <a:r>
              <a:rPr lang="en-US" sz="1500" dirty="0">
                <a:solidFill>
                  <a:srgbClr val="14213D"/>
                </a:solidFill>
                <a:latin typeface="Helvetica" pitchFamily="34" charset="0"/>
                <a:ea typeface="Helvetica" pitchFamily="34" charset="-122"/>
                <a:cs typeface="Helvetica" pitchFamily="34" charset="-120"/>
              </a:rPr>
              <a:t>Developer 1 work + Developer 2 work</a:t>
            </a:r>
            <a:endParaRPr lang="en-US" sz="1500" dirty="0"/>
          </a:p>
        </p:txBody>
      </p:sp>
      <p:pic>
        <p:nvPicPr>
          <p:cNvPr id="6" name="Image 0" descr="arrow-down">    </p:cNvPr>
          <p:cNvPicPr>
            <a:picLocks noChangeAspect="1"/>
          </p:cNvPicPr>
          <p:nvPr/>
        </p:nvPicPr>
        <p:blipFill>
          <a:blip r:embed="rId1"/>
          <a:srcRect l="0" r="0" t="0" b="0"/>
          <a:stretch/>
        </p:blipFill>
        <p:spPr>
          <a:xfrm>
            <a:off x="1066800" y="3004741"/>
            <a:ext cx="304800" cy="304800"/>
          </a:xfrm>
          <a:prstGeom prst="rect">
            <a:avLst/>
          </a:prstGeom>
        </p:spPr>
      </p:pic>
      <p:sp>
        <p:nvSpPr>
          <p:cNvPr id="7" name="Text 4"/>
          <p:cNvSpPr/>
          <p:nvPr/>
        </p:nvSpPr>
        <p:spPr>
          <a:xfrm>
            <a:off x="1066800" y="3436541"/>
            <a:ext cx="4622800" cy="520700"/>
          </a:xfrm>
          <a:prstGeom prst="roundRect">
            <a:avLst>
              <a:gd name="adj" fmla="val 14634"/>
            </a:avLst>
          </a:prstGeom>
          <a:solidFill>
            <a:srgbClr val="FFFFFF"/>
          </a:solidFill>
          <a:ln/>
        </p:spPr>
        <p:txBody>
          <a:bodyPr wrap="square" lIns="104682" tIns="104682" rIns="0" bIns="79282" rtlCol="0" anchor="t">
            <a:normAutofit/>
          </a:bodyPr>
          <a:lstStyle/>
          <a:p>
            <a:pPr algn="l" indent="0" marL="0">
              <a:lnSpc>
                <a:spcPts val="2100"/>
              </a:lnSpc>
              <a:buNone/>
            </a:pPr>
            <a:r>
              <a:rPr lang="en-US" sz="1500" dirty="0">
                <a:solidFill>
                  <a:srgbClr val="14213D"/>
                </a:solidFill>
                <a:latin typeface="Helvetica" pitchFamily="34" charset="0"/>
                <a:ea typeface="Helvetica" pitchFamily="34" charset="-122"/>
                <a:cs typeface="Helvetica" pitchFamily="34" charset="-120"/>
              </a:rPr>
              <a:t>Everything pushed together</a:t>
            </a:r>
            <a:endParaRPr lang="en-US" sz="1500" dirty="0"/>
          </a:p>
        </p:txBody>
      </p:sp>
      <p:pic>
        <p:nvPicPr>
          <p:cNvPr id="8" name="Image 1" descr="arrow-down">    </p:cNvPr>
          <p:cNvPicPr>
            <a:picLocks noChangeAspect="1"/>
          </p:cNvPicPr>
          <p:nvPr/>
        </p:nvPicPr>
        <p:blipFill>
          <a:blip r:embed="rId2"/>
          <a:srcRect l="0" r="0" t="0" b="0"/>
          <a:stretch/>
        </p:blipFill>
        <p:spPr>
          <a:xfrm>
            <a:off x="1066800" y="4084241"/>
            <a:ext cx="304800" cy="304800"/>
          </a:xfrm>
          <a:prstGeom prst="rect">
            <a:avLst/>
          </a:prstGeom>
        </p:spPr>
      </p:pic>
      <p:sp>
        <p:nvSpPr>
          <p:cNvPr id="9" name="Text 5"/>
          <p:cNvSpPr/>
          <p:nvPr/>
        </p:nvSpPr>
        <p:spPr>
          <a:xfrm>
            <a:off x="1066800" y="4516041"/>
            <a:ext cx="4622800" cy="520700"/>
          </a:xfrm>
          <a:prstGeom prst="roundRect">
            <a:avLst>
              <a:gd name="adj" fmla="val 14634"/>
            </a:avLst>
          </a:prstGeom>
          <a:solidFill>
            <a:srgbClr val="B4400F"/>
          </a:solidFill>
          <a:ln/>
        </p:spPr>
        <p:txBody>
          <a:bodyPr wrap="square" lIns="104682" tIns="104682" rIns="0" bIns="79282" rtlCol="0" anchor="t">
            <a:normAutofit/>
          </a:bodyPr>
          <a:lstStyle/>
          <a:p>
            <a:pPr algn="l" indent="0" marL="0">
              <a:lnSpc>
                <a:spcPts val="2100"/>
              </a:lnSpc>
              <a:buNone/>
            </a:pPr>
            <a:r>
              <a:rPr lang="en-US" sz="1500" b="1" dirty="0">
                <a:solidFill>
                  <a:srgbClr val="FFFFFF"/>
                </a:solidFill>
                <a:latin typeface="Helvetica" pitchFamily="34" charset="0"/>
                <a:ea typeface="Helvetica" pitchFamily="34" charset="-122"/>
                <a:cs typeface="Helvetica" pitchFamily="34" charset="-120"/>
              </a:rPr>
              <a:t>Production: includes unchecked work</a:t>
            </a:r>
            <a:endParaRPr lang="en-US" sz="1500" dirty="0"/>
          </a:p>
        </p:txBody>
      </p:sp>
      <p:sp>
        <p:nvSpPr>
          <p:cNvPr id="10" name="Shape 6"/>
          <p:cNvSpPr/>
          <p:nvPr/>
        </p:nvSpPr>
        <p:spPr>
          <a:xfrm>
            <a:off x="6248400" y="1671241"/>
            <a:ext cx="5130800" cy="3886200"/>
          </a:xfrm>
          <a:prstGeom prst="roundRect">
            <a:avLst>
              <a:gd name="adj" fmla="val 2614"/>
            </a:avLst>
          </a:prstGeom>
          <a:solidFill>
            <a:srgbClr val="DFF0F2"/>
          </a:solidFill>
          <a:ln/>
        </p:spPr>
      </p:sp>
      <p:sp>
        <p:nvSpPr>
          <p:cNvPr id="11" name="Text 7"/>
          <p:cNvSpPr/>
          <p:nvPr/>
        </p:nvSpPr>
        <p:spPr>
          <a:xfrm>
            <a:off x="6502400" y="1925241"/>
            <a:ext cx="47614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606F"/>
                </a:solidFill>
                <a:latin typeface="Helvetica" pitchFamily="34" charset="0"/>
                <a:ea typeface="Helvetica" pitchFamily="34" charset="-122"/>
                <a:cs typeface="Helvetica" pitchFamily="34" charset="-120"/>
              </a:rPr>
              <a:t>After: one change at a time</a:t>
            </a:r>
            <a:endParaRPr lang="en-US" sz="2000" dirty="0"/>
          </a:p>
        </p:txBody>
      </p:sp>
      <p:sp>
        <p:nvSpPr>
          <p:cNvPr id="12" name="Text 8"/>
          <p:cNvSpPr/>
          <p:nvPr/>
        </p:nvSpPr>
        <p:spPr>
          <a:xfrm>
            <a:off x="6502400" y="2357041"/>
            <a:ext cx="4622800" cy="520700"/>
          </a:xfrm>
          <a:prstGeom prst="roundRect">
            <a:avLst>
              <a:gd name="adj" fmla="val 14634"/>
            </a:avLst>
          </a:prstGeom>
          <a:solidFill>
            <a:srgbClr val="FFFFFF"/>
          </a:solidFill>
          <a:ln/>
        </p:spPr>
        <p:txBody>
          <a:bodyPr wrap="square" lIns="104682" tIns="104682" rIns="0" bIns="79282" rtlCol="0" anchor="t">
            <a:normAutofit/>
          </a:bodyPr>
          <a:lstStyle/>
          <a:p>
            <a:pPr algn="l" indent="0" marL="0">
              <a:lnSpc>
                <a:spcPts val="2100"/>
              </a:lnSpc>
              <a:buNone/>
            </a:pPr>
            <a:r>
              <a:rPr lang="en-US" sz="1500" dirty="0">
                <a:solidFill>
                  <a:srgbClr val="14213D"/>
                </a:solidFill>
                <a:latin typeface="Helvetica" pitchFamily="34" charset="0"/>
                <a:ea typeface="Helvetica" pitchFamily="34" charset="-122"/>
                <a:cs typeface="Helvetica" pitchFamily="34" charset="-120"/>
              </a:rPr>
              <a:t>Each change is reviewed, then merged</a:t>
            </a:r>
            <a:endParaRPr lang="en-US" sz="1500" dirty="0"/>
          </a:p>
        </p:txBody>
      </p:sp>
      <p:pic>
        <p:nvPicPr>
          <p:cNvPr id="13" name="Image 2" descr="arrow-down">    </p:cNvPr>
          <p:cNvPicPr>
            <a:picLocks noChangeAspect="1"/>
          </p:cNvPicPr>
          <p:nvPr/>
        </p:nvPicPr>
        <p:blipFill>
          <a:blip r:embed="rId3"/>
          <a:srcRect l="0" r="0" t="0" b="0"/>
          <a:stretch/>
        </p:blipFill>
        <p:spPr>
          <a:xfrm>
            <a:off x="6502400" y="3004741"/>
            <a:ext cx="304800" cy="304800"/>
          </a:xfrm>
          <a:prstGeom prst="rect">
            <a:avLst/>
          </a:prstGeom>
        </p:spPr>
      </p:pic>
      <p:sp>
        <p:nvSpPr>
          <p:cNvPr id="14" name="Text 9"/>
          <p:cNvSpPr/>
          <p:nvPr/>
        </p:nvSpPr>
        <p:spPr>
          <a:xfrm>
            <a:off x="6502400" y="3436541"/>
            <a:ext cx="4622800" cy="787400"/>
          </a:xfrm>
          <a:prstGeom prst="roundRect">
            <a:avLst>
              <a:gd name="adj" fmla="val 9677"/>
            </a:avLst>
          </a:prstGeom>
          <a:solidFill>
            <a:srgbClr val="FFFFFF"/>
          </a:solidFill>
          <a:ln/>
        </p:spPr>
        <p:txBody>
          <a:bodyPr wrap="square" lIns="104682" tIns="104682" rIns="0" bIns="79282" rtlCol="0" anchor="t">
            <a:normAutofit/>
          </a:bodyPr>
          <a:lstStyle/>
          <a:p>
            <a:pPr algn="l" indent="0" marL="0">
              <a:lnSpc>
                <a:spcPts val="2100"/>
              </a:lnSpc>
              <a:buNone/>
            </a:pPr>
            <a:r>
              <a:rPr lang="en-US" sz="1500" dirty="0">
                <a:solidFill>
                  <a:srgbClr val="14213D"/>
                </a:solidFill>
                <a:latin typeface="Helvetica" pitchFamily="34" charset="0"/>
                <a:ea typeface="Helvetica" pitchFamily="34" charset="-122"/>
                <a:cs typeface="Helvetica" pitchFamily="34" charset="-120"/>
              </a:rPr>
              <a:t>Only that change moves: Sandbox, Test, Production</a:t>
            </a:r>
            <a:endParaRPr lang="en-US" sz="1500" dirty="0"/>
          </a:p>
        </p:txBody>
      </p:sp>
      <p:pic>
        <p:nvPicPr>
          <p:cNvPr id="15" name="Image 3" descr="arrow-down">    </p:cNvPr>
          <p:cNvPicPr>
            <a:picLocks noChangeAspect="1"/>
          </p:cNvPicPr>
          <p:nvPr/>
        </p:nvPicPr>
        <p:blipFill>
          <a:blip r:embed="rId4"/>
          <a:srcRect l="0" r="0" t="0" b="0"/>
          <a:stretch/>
        </p:blipFill>
        <p:spPr>
          <a:xfrm>
            <a:off x="6502400" y="4350941"/>
            <a:ext cx="304800" cy="304800"/>
          </a:xfrm>
          <a:prstGeom prst="rect">
            <a:avLst/>
          </a:prstGeom>
        </p:spPr>
      </p:pic>
      <p:sp>
        <p:nvSpPr>
          <p:cNvPr id="16" name="Text 10"/>
          <p:cNvSpPr/>
          <p:nvPr/>
        </p:nvSpPr>
        <p:spPr>
          <a:xfrm>
            <a:off x="6502400" y="4782741"/>
            <a:ext cx="4622800" cy="520700"/>
          </a:xfrm>
          <a:prstGeom prst="roundRect">
            <a:avLst>
              <a:gd name="adj" fmla="val 14634"/>
            </a:avLst>
          </a:prstGeom>
          <a:solidFill>
            <a:srgbClr val="1F7A8C"/>
          </a:solidFill>
          <a:ln/>
        </p:spPr>
        <p:txBody>
          <a:bodyPr wrap="square" lIns="104682" tIns="104682" rIns="0" bIns="79282" rtlCol="0" anchor="t">
            <a:normAutofit/>
          </a:bodyPr>
          <a:lstStyle/>
          <a:p>
            <a:pPr algn="l" indent="0" marL="0">
              <a:lnSpc>
                <a:spcPts val="2100"/>
              </a:lnSpc>
              <a:buNone/>
            </a:pPr>
            <a:r>
              <a:rPr lang="en-US" sz="1500" b="1" dirty="0">
                <a:solidFill>
                  <a:srgbClr val="FFFFFF"/>
                </a:solidFill>
                <a:latin typeface="Helvetica" pitchFamily="34" charset="0"/>
                <a:ea typeface="Helvetica" pitchFamily="34" charset="-122"/>
                <a:cs typeface="Helvetica" pitchFamily="34" charset="-120"/>
              </a:rPr>
              <a:t>Production: only what was approved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How the new approach works</a:t>
            </a:r>
            <a:endParaRPr lang="en-US" sz="3600" dirty="0"/>
          </a:p>
        </p:txBody>
      </p:sp>
      <p:sp>
        <p:nvSpPr>
          <p:cNvPr id="3" name="Shape 1"/>
          <p:cNvSpPr/>
          <p:nvPr/>
        </p:nvSpPr>
        <p:spPr>
          <a:xfrm>
            <a:off x="812800" y="1671241"/>
            <a:ext cx="2527300" cy="2443956"/>
          </a:xfrm>
          <a:prstGeom prst="roundRect">
            <a:avLst>
              <a:gd name="adj" fmla="val 4157"/>
            </a:avLst>
          </a:prstGeom>
          <a:solidFill>
            <a:srgbClr val="FFFFFF"/>
          </a:solidFill>
          <a:ln/>
        </p:spPr>
      </p:sp>
      <p:sp>
        <p:nvSpPr>
          <p:cNvPr id="4" name="Text 2"/>
          <p:cNvSpPr/>
          <p:nvPr/>
        </p:nvSpPr>
        <p:spPr>
          <a:xfrm>
            <a:off x="1066800" y="1925241"/>
            <a:ext cx="207987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76F2A"/>
                </a:solidFill>
                <a:latin typeface="Helvetica" pitchFamily="34" charset="0"/>
                <a:ea typeface="Helvetica" pitchFamily="34" charset="-122"/>
                <a:cs typeface="Helvetica" pitchFamily="34" charset="-120"/>
              </a:rPr>
              <a:t>1. Preview</a:t>
            </a:r>
            <a:endParaRPr lang="en-US" sz="1800" dirty="0"/>
          </a:p>
        </p:txBody>
      </p:sp>
      <p:sp>
        <p:nvSpPr>
          <p:cNvPr id="5" name="Text 3"/>
          <p:cNvSpPr/>
          <p:nvPr/>
        </p:nvSpPr>
        <p:spPr>
          <a:xfrm>
            <a:off x="1066800" y="2301081"/>
            <a:ext cx="2079879" cy="15684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When a change is proposed, the system lists exactly which files will be released. Nothing is deployed yet.</a:t>
            </a:r>
            <a:endParaRPr lang="en-US" sz="1500" dirty="0"/>
          </a:p>
        </p:txBody>
      </p:sp>
      <p:sp>
        <p:nvSpPr>
          <p:cNvPr id="6" name="Shape 4"/>
          <p:cNvSpPr/>
          <p:nvPr/>
        </p:nvSpPr>
        <p:spPr>
          <a:xfrm>
            <a:off x="3492500" y="1671241"/>
            <a:ext cx="2527300" cy="2443956"/>
          </a:xfrm>
          <a:prstGeom prst="roundRect">
            <a:avLst>
              <a:gd name="adj" fmla="val 4157"/>
            </a:avLst>
          </a:prstGeom>
          <a:solidFill>
            <a:srgbClr val="FFFFFF"/>
          </a:solidFill>
          <a:ln/>
        </p:spPr>
      </p:sp>
      <p:sp>
        <p:nvSpPr>
          <p:cNvPr id="7" name="Text 5"/>
          <p:cNvSpPr/>
          <p:nvPr/>
        </p:nvSpPr>
        <p:spPr>
          <a:xfrm>
            <a:off x="3746500" y="1925241"/>
            <a:ext cx="2079879"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76F2A"/>
                </a:solidFill>
                <a:latin typeface="Helvetica" pitchFamily="34" charset="0"/>
                <a:ea typeface="Helvetica" pitchFamily="34" charset="-122"/>
                <a:cs typeface="Helvetica" pitchFamily="34" charset="-120"/>
              </a:rPr>
              <a:t>2. Approve and merge</a:t>
            </a:r>
            <a:endParaRPr lang="en-US" sz="1800" dirty="0"/>
          </a:p>
        </p:txBody>
      </p:sp>
      <p:sp>
        <p:nvSpPr>
          <p:cNvPr id="8" name="Text 6"/>
          <p:cNvSpPr/>
          <p:nvPr/>
        </p:nvSpPr>
        <p:spPr>
          <a:xfrm>
            <a:off x="3746500" y="2575322"/>
            <a:ext cx="2079879"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A reviewer approves and merges the change into the main line.</a:t>
            </a:r>
            <a:endParaRPr lang="en-US" sz="1500" dirty="0"/>
          </a:p>
        </p:txBody>
      </p:sp>
      <p:sp>
        <p:nvSpPr>
          <p:cNvPr id="9" name="Shape 7"/>
          <p:cNvSpPr/>
          <p:nvPr/>
        </p:nvSpPr>
        <p:spPr>
          <a:xfrm>
            <a:off x="6172200" y="1671241"/>
            <a:ext cx="2527300" cy="2443956"/>
          </a:xfrm>
          <a:prstGeom prst="roundRect">
            <a:avLst>
              <a:gd name="adj" fmla="val 4157"/>
            </a:avLst>
          </a:prstGeom>
          <a:solidFill>
            <a:srgbClr val="FFFFFF"/>
          </a:solidFill>
          <a:ln/>
        </p:spPr>
      </p:sp>
      <p:sp>
        <p:nvSpPr>
          <p:cNvPr id="10" name="Text 8"/>
          <p:cNvSpPr/>
          <p:nvPr/>
        </p:nvSpPr>
        <p:spPr>
          <a:xfrm>
            <a:off x="6426200" y="1925241"/>
            <a:ext cx="2079879"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76F2A"/>
                </a:solidFill>
                <a:latin typeface="Helvetica" pitchFamily="34" charset="0"/>
                <a:ea typeface="Helvetica" pitchFamily="34" charset="-122"/>
                <a:cs typeface="Helvetica" pitchFamily="34" charset="-120"/>
              </a:rPr>
              <a:t>3. Only changes move</a:t>
            </a:r>
            <a:endParaRPr lang="en-US" sz="1800" dirty="0"/>
          </a:p>
        </p:txBody>
      </p:sp>
      <p:sp>
        <p:nvSpPr>
          <p:cNvPr id="11" name="Text 9"/>
          <p:cNvSpPr/>
          <p:nvPr/>
        </p:nvSpPr>
        <p:spPr>
          <a:xfrm>
            <a:off x="6426200" y="2575322"/>
            <a:ext cx="2079879" cy="13112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The system compares with the previous version and copies only new, edited, renamed or removed files.</a:t>
            </a:r>
            <a:endParaRPr lang="en-US" sz="1500" dirty="0"/>
          </a:p>
        </p:txBody>
      </p:sp>
      <p:sp>
        <p:nvSpPr>
          <p:cNvPr id="12" name="Shape 10"/>
          <p:cNvSpPr/>
          <p:nvPr/>
        </p:nvSpPr>
        <p:spPr>
          <a:xfrm>
            <a:off x="8851900" y="1671241"/>
            <a:ext cx="2527300" cy="2443956"/>
          </a:xfrm>
          <a:prstGeom prst="roundRect">
            <a:avLst>
              <a:gd name="adj" fmla="val 4157"/>
            </a:avLst>
          </a:prstGeom>
          <a:solidFill>
            <a:srgbClr val="FFFFFF"/>
          </a:solidFill>
          <a:ln/>
        </p:spPr>
      </p:sp>
      <p:sp>
        <p:nvSpPr>
          <p:cNvPr id="13" name="Text 11"/>
          <p:cNvSpPr/>
          <p:nvPr/>
        </p:nvSpPr>
        <p:spPr>
          <a:xfrm>
            <a:off x="9105900" y="1925241"/>
            <a:ext cx="207987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76F2A"/>
                </a:solidFill>
                <a:latin typeface="Helvetica" pitchFamily="34" charset="0"/>
                <a:ea typeface="Helvetica" pitchFamily="34" charset="-122"/>
                <a:cs typeface="Helvetica" pitchFamily="34" charset="-120"/>
              </a:rPr>
              <a:t>4. Step by step</a:t>
            </a:r>
            <a:endParaRPr lang="en-US" sz="1800" dirty="0"/>
          </a:p>
        </p:txBody>
      </p:sp>
      <p:sp>
        <p:nvSpPr>
          <p:cNvPr id="14" name="Text 12"/>
          <p:cNvSpPr/>
          <p:nvPr/>
        </p:nvSpPr>
        <p:spPr>
          <a:xfrm>
            <a:off x="9105900" y="2301081"/>
            <a:ext cx="2079879"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Helvetica" pitchFamily="34" charset="0"/>
                <a:ea typeface="Helvetica" pitchFamily="34" charset="-122"/>
                <a:cs typeface="Helvetica" pitchFamily="34" charset="-120"/>
              </a:rPr>
              <a:t>Sandbox first, then Test, then Production. Each step waits for the one before to succeed.</a:t>
            </a:r>
            <a:endParaRPr lang="en-US" sz="1500" dirty="0"/>
          </a:p>
        </p:txBody>
      </p:sp>
      <p:sp>
        <p:nvSpPr>
          <p:cNvPr id="15" name="Text 13"/>
          <p:cNvSpPr/>
          <p:nvPr/>
        </p:nvSpPr>
        <p:spPr>
          <a:xfrm>
            <a:off x="812800" y="4470797"/>
            <a:ext cx="10883392" cy="31680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4213D"/>
                </a:solidFill>
                <a:latin typeface="Helvetica" pitchFamily="34" charset="0"/>
                <a:ea typeface="Helvetica" pitchFamily="34" charset="-122"/>
                <a:cs typeface="Helvetica" pitchFamily="34" charset="-120"/>
              </a:rPr>
              <a:t>Approval checks can be added on Test and Production, so a person confirms before anything goes live.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The new workflow, step by step</a:t>
            </a:r>
            <a:endParaRPr lang="en-US" sz="3600" dirty="0"/>
          </a:p>
        </p:txBody>
      </p:sp>
      <p:pic>
        <p:nvPicPr>
          <p:cNvPr id="3" name="Image 0" descr="Workflow: propose change, preview file list, review and merge, then Sandbox, Test and Production, with approval gates before Test and Production">    </p:cNvPr>
          <p:cNvPicPr>
            <a:picLocks noChangeAspect="1"/>
          </p:cNvPicPr>
          <p:nvPr/>
        </p:nvPicPr>
        <p:blipFill>
          <a:blip r:embed="rId1"/>
          <a:srcRect l="0" r="0" t="-31" b="-31"/>
          <a:stretch/>
        </p:blipFill>
        <p:spPr>
          <a:xfrm>
            <a:off x="812800" y="1620441"/>
            <a:ext cx="10566400" cy="1905000"/>
          </a:xfrm>
          <a:prstGeom prst="rect">
            <a:avLst/>
          </a:prstGeom>
        </p:spPr>
      </p:pic>
      <p:sp>
        <p:nvSpPr>
          <p:cNvPr id="4" name="Text 1"/>
          <p:cNvSpPr/>
          <p:nvPr/>
        </p:nvSpPr>
        <p:spPr>
          <a:xfrm>
            <a:off x="812800" y="3830241"/>
            <a:ext cx="2527300" cy="850900"/>
          </a:xfrm>
          <a:prstGeom prst="roundRect">
            <a:avLst>
              <a:gd name="adj" fmla="val 11940"/>
            </a:avLst>
          </a:prstGeom>
          <a:solidFill>
            <a:srgbClr val="FFFFFF"/>
          </a:solidFill>
          <a:ln/>
        </p:spPr>
        <p:txBody>
          <a:bodyPr wrap="square" lIns="148042" tIns="148042" rIns="82891" bIns="122642" rtlCol="0" anchor="t">
            <a:normAutofit/>
          </a:bodyPr>
          <a:lstStyle/>
          <a:p>
            <a:pPr algn="l" indent="0" marL="0">
              <a:lnSpc>
                <a:spcPts val="1950"/>
              </a:lnSpc>
              <a:buNone/>
            </a:pPr>
            <a:r>
              <a:rPr lang="en-US" sz="1500" b="1" dirty="0">
                <a:solidFill>
                  <a:srgbClr val="1F7A8C"/>
                </a:solidFill>
                <a:latin typeface="Helvetica" pitchFamily="34" charset="0"/>
                <a:ea typeface="Helvetica" pitchFamily="34" charset="-122"/>
                <a:cs typeface="Helvetica" pitchFamily="34" charset="-120"/>
              </a:rPr>
              <a:t>New or edited file</a:t>
            </a:r>
            <a:endParaRPr lang="en-US" sz="1500" dirty="0"/>
          </a:p>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Copied to the target</a:t>
            </a:r>
            <a:endParaRPr lang="en-US" sz="1500" dirty="0"/>
          </a:p>
        </p:txBody>
      </p:sp>
      <p:sp>
        <p:nvSpPr>
          <p:cNvPr id="5" name="Text 2"/>
          <p:cNvSpPr/>
          <p:nvPr/>
        </p:nvSpPr>
        <p:spPr>
          <a:xfrm>
            <a:off x="3492500" y="3830241"/>
            <a:ext cx="2527300" cy="850900"/>
          </a:xfrm>
          <a:prstGeom prst="roundRect">
            <a:avLst>
              <a:gd name="adj" fmla="val 11940"/>
            </a:avLst>
          </a:prstGeom>
          <a:solidFill>
            <a:srgbClr val="FFFFFF"/>
          </a:solidFill>
          <a:ln/>
        </p:spPr>
        <p:txBody>
          <a:bodyPr wrap="square" lIns="148042" tIns="148042" rIns="82891" bIns="122642" rtlCol="0" anchor="t">
            <a:normAutofit/>
          </a:bodyPr>
          <a:lstStyle/>
          <a:p>
            <a:pPr algn="l" indent="0" marL="0">
              <a:lnSpc>
                <a:spcPts val="1950"/>
              </a:lnSpc>
              <a:buNone/>
            </a:pPr>
            <a:r>
              <a:rPr lang="en-US" sz="1500" b="1" dirty="0">
                <a:solidFill>
                  <a:srgbClr val="1F7A8C"/>
                </a:solidFill>
                <a:latin typeface="Helvetica" pitchFamily="34" charset="0"/>
                <a:ea typeface="Helvetica" pitchFamily="34" charset="-122"/>
                <a:cs typeface="Helvetica" pitchFamily="34" charset="-120"/>
              </a:rPr>
              <a:t>Renamed file</a:t>
            </a:r>
            <a:endParaRPr lang="en-US" sz="1500" dirty="0"/>
          </a:p>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Old removed, new copied</a:t>
            </a:r>
            <a:endParaRPr lang="en-US" sz="1500" dirty="0"/>
          </a:p>
        </p:txBody>
      </p:sp>
      <p:sp>
        <p:nvSpPr>
          <p:cNvPr id="6" name="Text 3"/>
          <p:cNvSpPr/>
          <p:nvPr/>
        </p:nvSpPr>
        <p:spPr>
          <a:xfrm>
            <a:off x="6172200" y="3830241"/>
            <a:ext cx="2527300" cy="850900"/>
          </a:xfrm>
          <a:prstGeom prst="roundRect">
            <a:avLst>
              <a:gd name="adj" fmla="val 11940"/>
            </a:avLst>
          </a:prstGeom>
          <a:solidFill>
            <a:srgbClr val="FFFFFF"/>
          </a:solidFill>
          <a:ln/>
        </p:spPr>
        <p:txBody>
          <a:bodyPr wrap="square" lIns="148042" tIns="148042" rIns="82891" bIns="122642" rtlCol="0" anchor="t">
            <a:normAutofit/>
          </a:bodyPr>
          <a:lstStyle/>
          <a:p>
            <a:pPr algn="l" indent="0" marL="0">
              <a:lnSpc>
                <a:spcPts val="1950"/>
              </a:lnSpc>
              <a:buNone/>
            </a:pPr>
            <a:r>
              <a:rPr lang="en-US" sz="1500" b="1" dirty="0">
                <a:solidFill>
                  <a:srgbClr val="1F7A8C"/>
                </a:solidFill>
                <a:latin typeface="Helvetica" pitchFamily="34" charset="0"/>
                <a:ea typeface="Helvetica" pitchFamily="34" charset="-122"/>
                <a:cs typeface="Helvetica" pitchFamily="34" charset="-120"/>
              </a:rPr>
              <a:t>Deleted file</a:t>
            </a:r>
            <a:endParaRPr lang="en-US" sz="1500" dirty="0"/>
          </a:p>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Removed from the target</a:t>
            </a:r>
            <a:endParaRPr lang="en-US" sz="1500" dirty="0"/>
          </a:p>
        </p:txBody>
      </p:sp>
      <p:sp>
        <p:nvSpPr>
          <p:cNvPr id="7" name="Text 4"/>
          <p:cNvSpPr/>
          <p:nvPr/>
        </p:nvSpPr>
        <p:spPr>
          <a:xfrm>
            <a:off x="8851900" y="3830241"/>
            <a:ext cx="2527300" cy="850900"/>
          </a:xfrm>
          <a:prstGeom prst="roundRect">
            <a:avLst>
              <a:gd name="adj" fmla="val 11940"/>
            </a:avLst>
          </a:prstGeom>
          <a:solidFill>
            <a:srgbClr val="FFFFFF"/>
          </a:solidFill>
          <a:ln/>
        </p:spPr>
        <p:txBody>
          <a:bodyPr wrap="square" lIns="148042" tIns="148042" rIns="82891" bIns="122642" rtlCol="0" anchor="t">
            <a:normAutofit/>
          </a:bodyPr>
          <a:lstStyle/>
          <a:p>
            <a:pPr algn="l" indent="0" marL="0">
              <a:lnSpc>
                <a:spcPts val="1950"/>
              </a:lnSpc>
              <a:buNone/>
            </a:pPr>
            <a:r>
              <a:rPr lang="en-US" sz="1500" b="1" dirty="0">
                <a:solidFill>
                  <a:srgbClr val="1F7A8C"/>
                </a:solidFill>
                <a:latin typeface="Helvetica" pitchFamily="34" charset="0"/>
                <a:ea typeface="Helvetica" pitchFamily="34" charset="-122"/>
                <a:cs typeface="Helvetica" pitchFamily="34" charset="-120"/>
              </a:rPr>
              <a:t>Anything else</a:t>
            </a:r>
            <a:endParaRPr lang="en-US" sz="1500" dirty="0"/>
          </a:p>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Left exactly as it is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Helvetica" pitchFamily="34" charset="0"/>
                <a:ea typeface="Helvetica" pitchFamily="34" charset="-122"/>
                <a:cs typeface="Helvetica" pitchFamily="34" charset="-120"/>
              </a:rPr>
              <a:t>Who benefits</a:t>
            </a:r>
            <a:endParaRPr lang="en-US" sz="3600" dirty="0"/>
          </a:p>
        </p:txBody>
      </p:sp>
      <p:sp>
        <p:nvSpPr>
          <p:cNvPr id="3" name="Shape 1"/>
          <p:cNvSpPr/>
          <p:nvPr/>
        </p:nvSpPr>
        <p:spPr>
          <a:xfrm>
            <a:off x="812800" y="1671241"/>
            <a:ext cx="2527300" cy="2169716"/>
          </a:xfrm>
          <a:prstGeom prst="roundRect">
            <a:avLst>
              <a:gd name="adj" fmla="val 4683"/>
            </a:avLst>
          </a:prstGeom>
          <a:solidFill>
            <a:srgbClr val="1D2F55"/>
          </a:solidFill>
          <a:ln/>
        </p:spPr>
      </p:sp>
      <p:sp>
        <p:nvSpPr>
          <p:cNvPr id="4" name="Text 2"/>
          <p:cNvSpPr/>
          <p:nvPr/>
        </p:nvSpPr>
        <p:spPr>
          <a:xfrm>
            <a:off x="1066800" y="1925241"/>
            <a:ext cx="207987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76F2A"/>
                </a:solidFill>
                <a:latin typeface="Helvetica" pitchFamily="34" charset="0"/>
                <a:ea typeface="Helvetica" pitchFamily="34" charset="-122"/>
                <a:cs typeface="Helvetica" pitchFamily="34" charset="-120"/>
              </a:rPr>
              <a:t>Developers</a:t>
            </a:r>
            <a:endParaRPr lang="en-US" sz="1800" dirty="0"/>
          </a:p>
        </p:txBody>
      </p:sp>
      <p:sp>
        <p:nvSpPr>
          <p:cNvPr id="5" name="Text 3"/>
          <p:cNvSpPr/>
          <p:nvPr/>
        </p:nvSpPr>
        <p:spPr>
          <a:xfrm>
            <a:off x="1066800" y="2301081"/>
            <a:ext cx="2079879"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7F5EF"/>
                </a:solidFill>
                <a:latin typeface="Helvetica" pitchFamily="34" charset="0"/>
                <a:ea typeface="Helvetica" pitchFamily="34" charset="-122"/>
                <a:cs typeface="Helvetica" pitchFamily="34" charset="-120"/>
              </a:rPr>
              <a:t>Release only your own work, with confidence and no accidental side effects.</a:t>
            </a:r>
            <a:endParaRPr lang="en-US" sz="1500" dirty="0"/>
          </a:p>
        </p:txBody>
      </p:sp>
      <p:sp>
        <p:nvSpPr>
          <p:cNvPr id="6" name="Shape 4"/>
          <p:cNvSpPr/>
          <p:nvPr/>
        </p:nvSpPr>
        <p:spPr>
          <a:xfrm>
            <a:off x="3492500" y="1671241"/>
            <a:ext cx="2527300" cy="2169716"/>
          </a:xfrm>
          <a:prstGeom prst="roundRect">
            <a:avLst>
              <a:gd name="adj" fmla="val 4683"/>
            </a:avLst>
          </a:prstGeom>
          <a:solidFill>
            <a:srgbClr val="1D2F55"/>
          </a:solidFill>
          <a:ln/>
        </p:spPr>
      </p:sp>
      <p:sp>
        <p:nvSpPr>
          <p:cNvPr id="7" name="Text 5"/>
          <p:cNvSpPr/>
          <p:nvPr/>
        </p:nvSpPr>
        <p:spPr>
          <a:xfrm>
            <a:off x="3746500" y="1925241"/>
            <a:ext cx="207987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76F2A"/>
                </a:solidFill>
                <a:latin typeface="Helvetica" pitchFamily="34" charset="0"/>
                <a:ea typeface="Helvetica" pitchFamily="34" charset="-122"/>
                <a:cs typeface="Helvetica" pitchFamily="34" charset="-120"/>
              </a:rPr>
              <a:t>Business teams</a:t>
            </a:r>
            <a:endParaRPr lang="en-US" sz="1800" dirty="0"/>
          </a:p>
        </p:txBody>
      </p:sp>
      <p:sp>
        <p:nvSpPr>
          <p:cNvPr id="8" name="Text 6"/>
          <p:cNvSpPr/>
          <p:nvPr/>
        </p:nvSpPr>
        <p:spPr>
          <a:xfrm>
            <a:off x="3746500" y="2301081"/>
            <a:ext cx="2079879" cy="13112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7F5EF"/>
                </a:solidFill>
                <a:latin typeface="Helvetica" pitchFamily="34" charset="0"/>
                <a:ea typeface="Helvetica" pitchFamily="34" charset="-122"/>
                <a:cs typeface="Helvetica" pitchFamily="34" charset="-120"/>
              </a:rPr>
              <a:t>Fewer surprises in reports and data feeds because Production only gets approved work.</a:t>
            </a:r>
            <a:endParaRPr lang="en-US" sz="1500" dirty="0"/>
          </a:p>
        </p:txBody>
      </p:sp>
      <p:sp>
        <p:nvSpPr>
          <p:cNvPr id="9" name="Shape 7"/>
          <p:cNvSpPr/>
          <p:nvPr/>
        </p:nvSpPr>
        <p:spPr>
          <a:xfrm>
            <a:off x="6172200" y="1671241"/>
            <a:ext cx="2527300" cy="2169716"/>
          </a:xfrm>
          <a:prstGeom prst="roundRect">
            <a:avLst>
              <a:gd name="adj" fmla="val 4683"/>
            </a:avLst>
          </a:prstGeom>
          <a:solidFill>
            <a:srgbClr val="1D2F55"/>
          </a:solidFill>
          <a:ln/>
        </p:spPr>
      </p:sp>
      <p:sp>
        <p:nvSpPr>
          <p:cNvPr id="10" name="Text 8"/>
          <p:cNvSpPr/>
          <p:nvPr/>
        </p:nvSpPr>
        <p:spPr>
          <a:xfrm>
            <a:off x="6426200" y="1925241"/>
            <a:ext cx="2079879"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76F2A"/>
                </a:solidFill>
                <a:latin typeface="Helvetica" pitchFamily="34" charset="0"/>
                <a:ea typeface="Helvetica" pitchFamily="34" charset="-122"/>
                <a:cs typeface="Helvetica" pitchFamily="34" charset="-120"/>
              </a:rPr>
              <a:t>Support and operations</a:t>
            </a:r>
            <a:endParaRPr lang="en-US" sz="1800" dirty="0"/>
          </a:p>
        </p:txBody>
      </p:sp>
      <p:sp>
        <p:nvSpPr>
          <p:cNvPr id="11" name="Text 9"/>
          <p:cNvSpPr/>
          <p:nvPr/>
        </p:nvSpPr>
        <p:spPr>
          <a:xfrm>
            <a:off x="6426200" y="2575322"/>
            <a:ext cx="2079879"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7F5EF"/>
                </a:solidFill>
                <a:latin typeface="Helvetica" pitchFamily="34" charset="0"/>
                <a:ea typeface="Helvetica" pitchFamily="34" charset="-122"/>
                <a:cs typeface="Helvetica" pitchFamily="34" charset="-120"/>
              </a:rPr>
              <a:t>Fewer urgent fixes, and a clear record of what changed.</a:t>
            </a:r>
            <a:endParaRPr lang="en-US" sz="1500" dirty="0"/>
          </a:p>
        </p:txBody>
      </p:sp>
      <p:sp>
        <p:nvSpPr>
          <p:cNvPr id="12" name="Shape 10"/>
          <p:cNvSpPr/>
          <p:nvPr/>
        </p:nvSpPr>
        <p:spPr>
          <a:xfrm>
            <a:off x="8851900" y="1671241"/>
            <a:ext cx="2527300" cy="2169716"/>
          </a:xfrm>
          <a:prstGeom prst="roundRect">
            <a:avLst>
              <a:gd name="adj" fmla="val 4683"/>
            </a:avLst>
          </a:prstGeom>
          <a:solidFill>
            <a:srgbClr val="1D2F55"/>
          </a:solidFill>
          <a:ln/>
        </p:spPr>
      </p:sp>
      <p:sp>
        <p:nvSpPr>
          <p:cNvPr id="13" name="Text 11"/>
          <p:cNvSpPr/>
          <p:nvPr/>
        </p:nvSpPr>
        <p:spPr>
          <a:xfrm>
            <a:off x="9105900" y="1925241"/>
            <a:ext cx="2079879"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76F2A"/>
                </a:solidFill>
                <a:latin typeface="Helvetica" pitchFamily="34" charset="0"/>
                <a:ea typeface="Helvetica" pitchFamily="34" charset="-122"/>
                <a:cs typeface="Helvetica" pitchFamily="34" charset="-120"/>
              </a:rPr>
              <a:t>Management and audit</a:t>
            </a:r>
            <a:endParaRPr lang="en-US" sz="1800" dirty="0"/>
          </a:p>
        </p:txBody>
      </p:sp>
      <p:sp>
        <p:nvSpPr>
          <p:cNvPr id="14" name="Text 12"/>
          <p:cNvSpPr/>
          <p:nvPr/>
        </p:nvSpPr>
        <p:spPr>
          <a:xfrm>
            <a:off x="9105900" y="2575322"/>
            <a:ext cx="2079879"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7F5EF"/>
                </a:solidFill>
                <a:latin typeface="Helvetica" pitchFamily="34" charset="0"/>
                <a:ea typeface="Helvetica" pitchFamily="34" charset="-122"/>
                <a:cs typeface="Helvetica" pitchFamily="34" charset="-120"/>
              </a:rPr>
              <a:t>Controlled, traceable releases with approvals at each stage.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76F2A"/>
        </a:solidFill>
      </p:bgPr>
    </p:bg>
    <p:spTree>
      <p:nvGrpSpPr>
        <p:cNvPr id="1" name=""/>
        <p:cNvGrpSpPr/>
        <p:nvPr/>
      </p:nvGrpSpPr>
      <p:grpSpPr>
        <a:xfrm>
          <a:off x="0" y="0"/>
          <a:ext cx="0" cy="0"/>
          <a:chOff x="0" y="0"/>
          <a:chExt cx="0" cy="0"/>
        </a:xfrm>
      </p:grpSpPr>
      <p:sp>
        <p:nvSpPr>
          <p:cNvPr id="2" name="Text 0"/>
          <p:cNvSpPr/>
          <p:nvPr>
            <p:ph type="title"/>
          </p:nvPr>
        </p:nvSpPr>
        <p:spPr>
          <a:xfrm>
            <a:off x="812800" y="2440384"/>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4213D"/>
                </a:solidFill>
                <a:latin typeface="Helvetica" pitchFamily="34" charset="0"/>
                <a:ea typeface="Helvetica" pitchFamily="34" charset="-122"/>
                <a:cs typeface="Helvetica" pitchFamily="34" charset="-120"/>
              </a:rPr>
              <a:t>Release only what is ready</a:t>
            </a:r>
            <a:endParaRPr lang="en-US" sz="4800" dirty="0"/>
          </a:p>
        </p:txBody>
      </p:sp>
      <p:sp>
        <p:nvSpPr>
          <p:cNvPr id="3" name="Text 1"/>
          <p:cNvSpPr/>
          <p:nvPr/>
        </p:nvSpPr>
        <p:spPr>
          <a:xfrm>
            <a:off x="812800" y="3415705"/>
            <a:ext cx="10883392" cy="40253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4213D"/>
                </a:solidFill>
                <a:latin typeface="Helvetica" pitchFamily="34" charset="0"/>
                <a:ea typeface="Helvetica" pitchFamily="34" charset="-122"/>
                <a:cs typeface="Helvetica" pitchFamily="34" charset="-120"/>
              </a:rPr>
              <a:t>Fewer production incidents, clearer ownership, and releases everyone can trust.</a:t>
            </a:r>
            <a:endParaRPr lang="en-US" sz="2200" dirty="0"/>
          </a:p>
        </p:txBody>
      </p:sp>
      <p:sp>
        <p:nvSpPr>
          <p:cNvPr id="4" name="Text 2"/>
          <p:cNvSpPr/>
          <p:nvPr/>
        </p:nvSpPr>
        <p:spPr>
          <a:xfrm>
            <a:off x="812800" y="4097635"/>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Helvetica" pitchFamily="34" charset="0"/>
                <a:ea typeface="Helvetica" pitchFamily="34" charset="-122"/>
                <a:cs typeface="Helvetica" pitchFamily="34" charset="-120"/>
              </a:rPr>
              <a:t>Ask: approve rollout to all Airflow projects.</a:t>
            </a:r>
            <a:endParaRPr lang="en-US" sz="1800" dirty="0"/>
          </a:p>
        </p:txBody>
      </p:sp>
    </p:spTree>
  </p:cSld>
  <p:clrMapOvr>
    <a:masterClrMapping/>
  </p:clrMapOvr>
</p:sld>
</file>

<file path=ppt/theme/theme1.xml><?xml version="1.0" encoding="utf-8"?>
<a:theme xmlns:a="http://schemas.openxmlformats.org/drawingml/2006/main" name="Safer Airflow Releases">
  <a:themeElements>
    <a:clrScheme name="Safer Airflow Releases">
      <a:dk1>
        <a:srgbClr val="14213D"/>
      </a:dk1>
      <a:lt1>
        <a:srgbClr val="F7F5EF"/>
      </a:lt1>
      <a:dk2>
        <a:srgbClr val="4D566A"/>
      </a:dk2>
      <a:lt2>
        <a:srgbClr val="E0E0DD"/>
      </a:lt2>
      <a:accent1>
        <a:srgbClr val="E76F2A"/>
      </a:accent1>
      <a:accent2>
        <a:srgbClr val="B4400F"/>
      </a:accent2>
      <a:accent3>
        <a:srgbClr val="1F7A8C"/>
      </a:accent3>
      <a:accent4>
        <a:srgbClr val="14606F"/>
      </a:accent4>
      <a:accent5>
        <a:srgbClr val="C9D1E0"/>
      </a:accent5>
      <a:accent6>
        <a:srgbClr val="9AA0A6"/>
      </a:accent6>
      <a:hlink>
        <a:srgbClr val="0563C1"/>
      </a:hlink>
      <a:folHlink>
        <a:srgbClr val="954F72"/>
      </a:folHlink>
    </a:clrScheme>
    <a:fontScheme name="Safer Airflow Releases">
      <a:majorFont>
        <a:latin typeface="Helvetic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Safer Airflow Releases</dc:title>
  <dc:subject/>
  <dc:creator/>
  <cp:lastModifiedBy/>
  <cp:revision>1</cp:revision>
  <dcterms:created xsi:type="dcterms:W3CDTF">2026-10-06T17:30:56Z</dcterms:created>
  <dcterms:modified xsi:type="dcterms:W3CDTF">2026-10-06T17:30:56Z</dcterms:modified>
</cp:coreProperties>
</file>